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7" r:id="rId4"/>
    <p:sldMasterId id="214748372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Figtree"/>
      <p:regular r:id="rId16"/>
      <p:bold r:id="rId17"/>
      <p:italic r:id="rId18"/>
      <p:boldItalic r:id="rId19"/>
    </p:embeddedFont>
    <p:embeddedFont>
      <p:font typeface="IBM Plex Sans"/>
      <p:regular r:id="rId20"/>
      <p:bold r:id="rId21"/>
      <p:italic r:id="rId22"/>
      <p:boldItalic r:id="rId23"/>
    </p:embeddedFont>
    <p:embeddedFont>
      <p:font typeface="Figtree ExtraBold"/>
      <p:bold r:id="rId24"/>
      <p:boldItalic r:id="rId25"/>
    </p:embeddedFont>
    <p:embeddedFont>
      <p:font typeface="IBM Plex Sans Light"/>
      <p:regular r:id="rId26"/>
      <p:bold r:id="rId27"/>
      <p:italic r:id="rId28"/>
      <p:boldItalic r:id="rId29"/>
    </p:embeddedFont>
    <p:embeddedFont>
      <p:font typeface="IBM Plex Sans Medium"/>
      <p:regular r:id="rId30"/>
      <p:bold r:id="rId31"/>
      <p:italic r:id="rId32"/>
      <p:boldItalic r:id="rId33"/>
    </p:embeddedFont>
    <p:embeddedFont>
      <p:font typeface="Figtree SemiBold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-regular.fntdata"/><Relationship Id="rId22" Type="http://schemas.openxmlformats.org/officeDocument/2006/relationships/font" Target="fonts/IBMPlexSans-italic.fntdata"/><Relationship Id="rId21" Type="http://schemas.openxmlformats.org/officeDocument/2006/relationships/font" Target="fonts/IBMPlexSans-bold.fntdata"/><Relationship Id="rId24" Type="http://schemas.openxmlformats.org/officeDocument/2006/relationships/font" Target="fonts/FigtreeExtraBold-bold.fntdata"/><Relationship Id="rId23" Type="http://schemas.openxmlformats.org/officeDocument/2006/relationships/font" Target="fonts/IBMPlex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BMPlexSansLight-regular.fntdata"/><Relationship Id="rId25" Type="http://schemas.openxmlformats.org/officeDocument/2006/relationships/font" Target="fonts/FigtreeExtraBold-boldItalic.fntdata"/><Relationship Id="rId28" Type="http://schemas.openxmlformats.org/officeDocument/2006/relationships/font" Target="fonts/IBMPlexSansLight-italic.fntdata"/><Relationship Id="rId27" Type="http://schemas.openxmlformats.org/officeDocument/2006/relationships/font" Target="fonts/IBMPlexSansLigh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BMPlexSans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Medium-bold.fntdata"/><Relationship Id="rId30" Type="http://schemas.openxmlformats.org/officeDocument/2006/relationships/font" Target="fonts/IBMPlexSansMedium-regular.fntdata"/><Relationship Id="rId11" Type="http://schemas.openxmlformats.org/officeDocument/2006/relationships/slide" Target="slides/slide5.xml"/><Relationship Id="rId33" Type="http://schemas.openxmlformats.org/officeDocument/2006/relationships/font" Target="fonts/IBMPlexSans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IBMPlexSansMedium-italic.fntdata"/><Relationship Id="rId13" Type="http://schemas.openxmlformats.org/officeDocument/2006/relationships/slide" Target="slides/slide7.xml"/><Relationship Id="rId35" Type="http://schemas.openxmlformats.org/officeDocument/2006/relationships/font" Target="fonts/FigtreeSemiBold-bold.fntdata"/><Relationship Id="rId12" Type="http://schemas.openxmlformats.org/officeDocument/2006/relationships/slide" Target="slides/slide6.xml"/><Relationship Id="rId34" Type="http://schemas.openxmlformats.org/officeDocument/2006/relationships/font" Target="fonts/Figtree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Figtree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FigtreeSemiBold-italic.fntdata"/><Relationship Id="rId17" Type="http://schemas.openxmlformats.org/officeDocument/2006/relationships/font" Target="fonts/Figtree-bold.fntdata"/><Relationship Id="rId16" Type="http://schemas.openxmlformats.org/officeDocument/2006/relationships/font" Target="fonts/Figtree-regular.fntdata"/><Relationship Id="rId19" Type="http://schemas.openxmlformats.org/officeDocument/2006/relationships/font" Target="fonts/Figtree-boldItalic.fntdata"/><Relationship Id="rId18" Type="http://schemas.openxmlformats.org/officeDocument/2006/relationships/font" Target="fonts/Figtre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c4b30c71a6_0_7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c4b30c71a6_0_7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3c4b30c71a6_0_1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3c4b30c71a6_0_1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 culture terminology taken from videogaming, where your character is so weakened that a single attack will lose you the game.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Applied to economics - a single economic shock will irreversibly damage the economic wellbeing of a person, such that they won’t recover.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NYT &amp; MSN - propaganda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Qiushi - core theoretical journal of the Central Committee of the Communist Party of China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wanted to ask: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c4b30c71a6_0_1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3c4b30c71a6_0_1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g3c4b30c71a6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9" name="Google Shape;899;g3c4b30c71a6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c4b30c71a6_0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3c4b30c71a6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Framework: Measure the impact of economic hardship, over time, and attempt to determine if lasting economic change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Narrow Scope: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Income, not wealth - huge portions of marginalized communities don’t have net wealth.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Intergenerational timeframe, in lieu of survey data over a lifetime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Rule out definitive analysis of a “point of no return”, especially with metrics such as homelessness (see 1996 NSHAPC survey)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PSID, Opportunity Atlas, national measures of cost-of-living, census data, geographic economic indicators, etcetera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MIT Living Wage dataset or Alice datasets, for the moment, due to license requirements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c4b30c71a6_0_1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3" name="Google Shape;943;g3c4b30c71a6_0_1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Nationwide, down to the FIPS level, a framework of upward mobility defined by dignity &amp; belonging, economic success, and power &amp; autonomy.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 economic and demographic predictors, nationwide, based on multiple datasets.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wanted to simulate economic change over time, so I pulled the dataset, pulled living wage, calculated living wage over time, per county.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c4b30c71a6_0_1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c4b30c71a6_0_1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Raj Chetty, leading scholar on intergenerational economic mobility at Harvard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 Atlas - two generations of kids, plus economic data about their parents, nationwide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Merged my living wage change data at county level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of Children’s economic outcomes as it relates to county outcomes - p75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3c4b30c71a6_0_1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3c4b30c71a6_0_1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Calculated Regression lines for three groups of kids - whose parents are in the 75th, 50th, and 25th income percentiles, respectively.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Logarithmic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CAUTION - cannot derive much from this data at this time. This is all counties, all incomes, and all demographics, and only the second cohort of children.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Paints a rosy picture of intergenerational wealth, wherein all younger generations benefit, even in countries that are the most hard hit.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c4b30c71a6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c4b30c71a6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ALICE - Asset Limited, Income Constrained, Employed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_3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" name="Google Shape;50;p1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" name="Google Shape;51;p1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" name="Google Shape;52;p1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1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5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4" name="Google Shape;74;p15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5" name="Google Shape;75;p15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" name="Google Shape;84;p1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5" name="Google Shape;85;p1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" name="Google Shape;86;p1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4" name="Google Shape;94;p1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9" name="Google Shape;99;p1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1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9" name="Google Shape;109;p1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1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1" name="Google Shape;111;p1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2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0" name="Google Shape;120;p2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2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81" y="-57"/>
            <a:ext cx="9144360" cy="5143800"/>
            <a:chOff x="81" y="-57"/>
            <a:chExt cx="9144360" cy="5143800"/>
          </a:xfrm>
        </p:grpSpPr>
        <p:sp>
          <p:nvSpPr>
            <p:cNvPr id="129" name="Google Shape;129;p22"/>
            <p:cNvSpPr/>
            <p:nvPr/>
          </p:nvSpPr>
          <p:spPr>
            <a:xfrm rot="-5400000">
              <a:off x="-735519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0" name="Google Shape;130;p22"/>
            <p:cNvSpPr/>
            <p:nvPr/>
          </p:nvSpPr>
          <p:spPr>
            <a:xfrm rot="-5400000">
              <a:off x="200036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 rot="-5400000">
              <a:off x="4736241" y="735543"/>
              <a:ext cx="5143800" cy="3672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32" name="Google Shape;132;p22"/>
          <p:cNvSpPr txBox="1"/>
          <p:nvPr>
            <p:ph type="ctrTitle"/>
          </p:nvPr>
        </p:nvSpPr>
        <p:spPr>
          <a:xfrm>
            <a:off x="429300" y="1681700"/>
            <a:ext cx="8285400" cy="13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Font typeface="Figtree ExtraBold"/>
              <a:buNone/>
              <a:defRPr b="0" sz="4500">
                <a:latin typeface="Figtree ExtraBold"/>
                <a:ea typeface="Figtree ExtraBold"/>
                <a:cs typeface="Figtree ExtraBold"/>
                <a:sym typeface="Figtree ExtraBold"/>
              </a:defRPr>
            </a:lvl9pPr>
          </a:lstStyle>
          <a:p/>
        </p:txBody>
      </p:sp>
      <p:sp>
        <p:nvSpPr>
          <p:cNvPr id="133" name="Google Shape;133;p22"/>
          <p:cNvSpPr txBox="1"/>
          <p:nvPr>
            <p:ph idx="1" type="subTitle"/>
          </p:nvPr>
        </p:nvSpPr>
        <p:spPr>
          <a:xfrm>
            <a:off x="429300" y="3116325"/>
            <a:ext cx="82854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None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and body" type="secHead">
  <p:cSld name="SECTION_HEADER"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3"/>
          <p:cNvGrpSpPr/>
          <p:nvPr/>
        </p:nvGrpSpPr>
        <p:grpSpPr>
          <a:xfrm>
            <a:off x="1500" y="656450"/>
            <a:ext cx="9144473" cy="4268250"/>
            <a:chOff x="1500" y="656450"/>
            <a:chExt cx="9144473" cy="4268250"/>
          </a:xfrm>
        </p:grpSpPr>
        <p:sp>
          <p:nvSpPr>
            <p:cNvPr id="136" name="Google Shape;136;p23"/>
            <p:cNvSpPr/>
            <p:nvPr/>
          </p:nvSpPr>
          <p:spPr>
            <a:xfrm rot="-5400000">
              <a:off x="3342986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7" name="Google Shape;137;p23"/>
            <p:cNvSpPr/>
            <p:nvPr/>
          </p:nvSpPr>
          <p:spPr>
            <a:xfrm rot="-5400000">
              <a:off x="462150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38" name="Google Shape;138;p23"/>
            <p:cNvSpPr/>
            <p:nvPr/>
          </p:nvSpPr>
          <p:spPr>
            <a:xfrm>
              <a:off x="2401856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139" name="Google Shape;139;p23"/>
            <p:cNvSpPr/>
            <p:nvPr/>
          </p:nvSpPr>
          <p:spPr>
            <a:xfrm rot="-5400000">
              <a:off x="6223823" y="19580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0" name="Google Shape;140;p23"/>
            <p:cNvSpPr/>
            <p:nvPr/>
          </p:nvSpPr>
          <p:spPr>
            <a:xfrm rot="-5400000">
              <a:off x="3342986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1" name="Google Shape;141;p23"/>
            <p:cNvSpPr/>
            <p:nvPr/>
          </p:nvSpPr>
          <p:spPr>
            <a:xfrm rot="-5400000">
              <a:off x="462150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2" name="Google Shape;142;p23"/>
            <p:cNvSpPr/>
            <p:nvPr/>
          </p:nvSpPr>
          <p:spPr>
            <a:xfrm rot="-5400000">
              <a:off x="6223823" y="2002550"/>
              <a:ext cx="2461500" cy="33828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5282615" y="1764425"/>
              <a:ext cx="1463100" cy="2052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</p:grp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46" name="Google Shape;146;p2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47" name="Google Shape;147;p2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8" name="Google Shape;148;p2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1" name="Google Shape;151;p23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52" name="Google Shape;152;p23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SECTION_HEADER_1">
    <p:bg>
      <p:bgPr>
        <a:solidFill>
          <a:schemeClr val="lt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156" name="Google Shape;156;p2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57" name="Google Shape;157;p2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58" name="Google Shape;158;p2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0" name="Google Shape;160;p2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1" name="Google Shape;161;p24"/>
          <p:cNvSpPr txBox="1"/>
          <p:nvPr>
            <p:ph idx="2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62" name="Google Shape;162;p24"/>
          <p:cNvSpPr txBox="1"/>
          <p:nvPr>
            <p:ph idx="3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dy and image" type="tx">
  <p:cSld name="TITLE_AND_BODY">
    <p:bg>
      <p:bgPr>
        <a:solidFill>
          <a:schemeClr val="accen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/>
          <p:nvPr/>
        </p:nvSpPr>
        <p:spPr>
          <a:xfrm>
            <a:off x="0" y="635100"/>
            <a:ext cx="4572000" cy="4289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5"/>
          <p:cNvSpPr/>
          <p:nvPr>
            <p:ph idx="2" type="pic"/>
          </p:nvPr>
        </p:nvSpPr>
        <p:spPr>
          <a:xfrm>
            <a:off x="4572000" y="635100"/>
            <a:ext cx="4572000" cy="42894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6" name="Google Shape;166;p25"/>
          <p:cNvSpPr txBox="1"/>
          <p:nvPr>
            <p:ph type="title"/>
          </p:nvPr>
        </p:nvSpPr>
        <p:spPr>
          <a:xfrm>
            <a:off x="639300" y="1960688"/>
            <a:ext cx="3293400" cy="52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Figtree"/>
              <a:buNone/>
              <a:defRPr sz="2000"/>
            </a:lvl9pPr>
          </a:lstStyle>
          <a:p/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639300" y="2675513"/>
            <a:ext cx="3293400" cy="8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168" name="Google Shape;168;p2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0" name="Google Shape;170;p2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1" name="Google Shape;171;p2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2" name="Google Shape;172;p2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3" name="Google Shape;173;p25"/>
          <p:cNvSpPr txBox="1"/>
          <p:nvPr>
            <p:ph idx="3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4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1" type="twoColTx">
  <p:cSld name="TITLE_AND_TWO_COLUMNS">
    <p:bg>
      <p:bgPr>
        <a:solidFill>
          <a:schemeClr val="accen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8" name="Google Shape;178;p2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9" name="Google Shape;179;p26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grpSp>
        <p:nvGrpSpPr>
          <p:cNvPr id="180" name="Google Shape;180;p26"/>
          <p:cNvGrpSpPr/>
          <p:nvPr/>
        </p:nvGrpSpPr>
        <p:grpSpPr>
          <a:xfrm>
            <a:off x="1275" y="1477575"/>
            <a:ext cx="9142725" cy="3447039"/>
            <a:chOff x="1275" y="1477575"/>
            <a:chExt cx="9142725" cy="3447039"/>
          </a:xfrm>
        </p:grpSpPr>
        <p:sp>
          <p:nvSpPr>
            <p:cNvPr id="181" name="Google Shape;181;p26"/>
            <p:cNvSpPr/>
            <p:nvPr/>
          </p:nvSpPr>
          <p:spPr>
            <a:xfrm rot="5400000">
              <a:off x="644025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 rot="5400000">
              <a:off x="3690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 rot="5400000">
              <a:off x="6738750" y="834825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4" name="Google Shape;184;p26"/>
            <p:cNvSpPr/>
            <p:nvPr/>
          </p:nvSpPr>
          <p:spPr>
            <a:xfrm rot="5400000">
              <a:off x="644025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5" name="Google Shape;185;p26"/>
            <p:cNvSpPr/>
            <p:nvPr/>
          </p:nvSpPr>
          <p:spPr>
            <a:xfrm rot="5400000">
              <a:off x="3691388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186" name="Google Shape;186;p26"/>
            <p:cNvSpPr/>
            <p:nvPr/>
          </p:nvSpPr>
          <p:spPr>
            <a:xfrm rot="5400000">
              <a:off x="6738750" y="2519364"/>
              <a:ext cx="1762500" cy="3048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187" name="Google Shape;187;p26"/>
          <p:cNvSpPr txBox="1"/>
          <p:nvPr>
            <p:ph idx="2" type="title"/>
          </p:nvPr>
        </p:nvSpPr>
        <p:spPr>
          <a:xfrm>
            <a:off x="3409838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409838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89" name="Google Shape;189;p26"/>
          <p:cNvSpPr txBox="1"/>
          <p:nvPr>
            <p:ph idx="3" type="title"/>
          </p:nvPr>
        </p:nvSpPr>
        <p:spPr>
          <a:xfrm>
            <a:off x="362475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0" name="Google Shape;190;p26"/>
          <p:cNvSpPr txBox="1"/>
          <p:nvPr>
            <p:ph idx="4" type="body"/>
          </p:nvPr>
        </p:nvSpPr>
        <p:spPr>
          <a:xfrm>
            <a:off x="362475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5" type="title"/>
          </p:nvPr>
        </p:nvSpPr>
        <p:spPr>
          <a:xfrm>
            <a:off x="6457200" y="185710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2" name="Google Shape;192;p26"/>
          <p:cNvSpPr txBox="1"/>
          <p:nvPr>
            <p:ph idx="6" type="body"/>
          </p:nvPr>
        </p:nvSpPr>
        <p:spPr>
          <a:xfrm>
            <a:off x="6457200" y="218312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3" name="Google Shape;193;p26"/>
          <p:cNvSpPr txBox="1"/>
          <p:nvPr>
            <p:ph idx="7" type="title"/>
          </p:nvPr>
        </p:nvSpPr>
        <p:spPr>
          <a:xfrm>
            <a:off x="362475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4" name="Google Shape;194;p26"/>
          <p:cNvSpPr txBox="1"/>
          <p:nvPr>
            <p:ph idx="8" type="body"/>
          </p:nvPr>
        </p:nvSpPr>
        <p:spPr>
          <a:xfrm>
            <a:off x="362475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9" type="title"/>
          </p:nvPr>
        </p:nvSpPr>
        <p:spPr>
          <a:xfrm>
            <a:off x="340920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6" name="Google Shape;196;p26"/>
          <p:cNvSpPr txBox="1"/>
          <p:nvPr>
            <p:ph idx="13" type="body"/>
          </p:nvPr>
        </p:nvSpPr>
        <p:spPr>
          <a:xfrm>
            <a:off x="340920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7" name="Google Shape;197;p26"/>
          <p:cNvSpPr txBox="1"/>
          <p:nvPr>
            <p:ph idx="14" type="title"/>
          </p:nvPr>
        </p:nvSpPr>
        <p:spPr>
          <a:xfrm>
            <a:off x="6381150" y="3541650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198" name="Google Shape;198;p26"/>
          <p:cNvSpPr txBox="1"/>
          <p:nvPr>
            <p:ph idx="15" type="body"/>
          </p:nvPr>
        </p:nvSpPr>
        <p:spPr>
          <a:xfrm>
            <a:off x="6381150" y="3867675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199" name="Google Shape;199;p2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0" name="Google Shape;200;p2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1" name="Google Shape;201;p26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02" name="Google Shape;202;p26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1" type="titleOnly">
  <p:cSld name="TITLE_ONLY">
    <p:bg>
      <p:bgPr>
        <a:solidFill>
          <a:schemeClr val="accent3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05" name="Google Shape;205;p2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2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7" name="Google Shape;207;p27"/>
          <p:cNvGrpSpPr/>
          <p:nvPr/>
        </p:nvGrpSpPr>
        <p:grpSpPr>
          <a:xfrm>
            <a:off x="1" y="656600"/>
            <a:ext cx="9143948" cy="4268310"/>
            <a:chOff x="1" y="656600"/>
            <a:chExt cx="9143948" cy="4268310"/>
          </a:xfrm>
        </p:grpSpPr>
        <p:sp>
          <p:nvSpPr>
            <p:cNvPr id="208" name="Google Shape;208;p27"/>
            <p:cNvSpPr/>
            <p:nvPr/>
          </p:nvSpPr>
          <p:spPr>
            <a:xfrm>
              <a:off x="1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2193874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2193874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873232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4533576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6727449" y="65660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4533576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6727449" y="2515310"/>
              <a:ext cx="2416500" cy="240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5406807" y="1523415"/>
              <a:ext cx="2864400" cy="25347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18" name="Google Shape;218;p27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19" name="Google Shape;219;p27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1" name="Google Shape;221;p27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22" name="Google Shape;222;p27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23" name="Google Shape;223;p2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4" name="Google Shape;224;p2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5" name="Google Shape;225;p27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26" name="Google Shape;226;p27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1">
  <p:cSld name="ONE_COLUMN_TEXT">
    <p:bg>
      <p:bgPr>
        <a:solidFill>
          <a:schemeClr val="dk2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29" name="Google Shape;229;p2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0" name="Google Shape;230;p2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1" name="Google Shape;231;p28"/>
          <p:cNvGrpSpPr/>
          <p:nvPr/>
        </p:nvGrpSpPr>
        <p:grpSpPr>
          <a:xfrm>
            <a:off x="1675" y="656598"/>
            <a:ext cx="9143766" cy="4268100"/>
            <a:chOff x="1675" y="656598"/>
            <a:chExt cx="9143766" cy="4268100"/>
          </a:xfrm>
        </p:grpSpPr>
        <p:sp>
          <p:nvSpPr>
            <p:cNvPr id="232" name="Google Shape;232;p28"/>
            <p:cNvSpPr/>
            <p:nvPr/>
          </p:nvSpPr>
          <p:spPr>
            <a:xfrm>
              <a:off x="1675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3" name="Google Shape;233;p28"/>
            <p:cNvSpPr/>
            <p:nvPr/>
          </p:nvSpPr>
          <p:spPr>
            <a:xfrm>
              <a:off x="2977708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34" name="Google Shape;234;p28"/>
            <p:cNvSpPr/>
            <p:nvPr/>
          </p:nvSpPr>
          <p:spPr>
            <a:xfrm>
              <a:off x="5953741" y="656598"/>
              <a:ext cx="31917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35" name="Google Shape;235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6" name="Google Shape;236;p28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37" name="Google Shape;237;p28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38" name="Google Shape;238;p28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39" name="Google Shape;239;p28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40" name="Google Shape;240;p28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41" name="Google Shape;241;p2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2" name="Google Shape;242;p2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43" name="Google Shape;243;p28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44" name="Google Shape;244;p28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2">
  <p:cSld name="MAIN_POINT"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9"/>
          <p:cNvGrpSpPr/>
          <p:nvPr/>
        </p:nvGrpSpPr>
        <p:grpSpPr>
          <a:xfrm>
            <a:off x="-25" y="656852"/>
            <a:ext cx="9144036" cy="4268100"/>
            <a:chOff x="-25" y="656852"/>
            <a:chExt cx="9144036" cy="4268100"/>
          </a:xfrm>
        </p:grpSpPr>
        <p:sp>
          <p:nvSpPr>
            <p:cNvPr id="247" name="Google Shape;247;p29"/>
            <p:cNvSpPr/>
            <p:nvPr/>
          </p:nvSpPr>
          <p:spPr>
            <a:xfrm rot="-5400000">
              <a:off x="3345537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8" name="Google Shape;248;p29"/>
            <p:cNvSpPr/>
            <p:nvPr/>
          </p:nvSpPr>
          <p:spPr>
            <a:xfrm rot="-5400000">
              <a:off x="4657144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49" name="Google Shape;249;p29"/>
            <p:cNvSpPr/>
            <p:nvPr/>
          </p:nvSpPr>
          <p:spPr>
            <a:xfrm rot="-5400000">
              <a:off x="5968811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0" name="Google Shape;250;p29"/>
            <p:cNvSpPr/>
            <p:nvPr/>
          </p:nvSpPr>
          <p:spPr>
            <a:xfrm rot="-5400000">
              <a:off x="-1092925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1" name="Google Shape;251;p29"/>
            <p:cNvSpPr/>
            <p:nvPr/>
          </p:nvSpPr>
          <p:spPr>
            <a:xfrm rot="-5400000">
              <a:off x="218682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252" name="Google Shape;252;p29"/>
            <p:cNvSpPr/>
            <p:nvPr/>
          </p:nvSpPr>
          <p:spPr>
            <a:xfrm rot="-5400000">
              <a:off x="1530349" y="1749752"/>
              <a:ext cx="4268100" cy="2082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253" name="Google Shape;253;p2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54" name="Google Shape;254;p2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5" name="Google Shape;255;p2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9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57" name="Google Shape;257;p29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59" name="Google Shape;259;p29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60" name="Google Shape;260;p29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61" name="Google Shape;261;p2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2" name="Google Shape;262;p2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63" name="Google Shape;263;p29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64" name="Google Shape;264;p29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2">
  <p:cSld name="SECTION_TITLE_AND_DESCRIPTION_1">
    <p:bg>
      <p:bgPr>
        <a:solidFill>
          <a:schemeClr val="accen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0"/>
          <p:cNvGrpSpPr/>
          <p:nvPr/>
        </p:nvGrpSpPr>
        <p:grpSpPr>
          <a:xfrm>
            <a:off x="0" y="655700"/>
            <a:ext cx="9143980" cy="4282350"/>
            <a:chOff x="0" y="655700"/>
            <a:chExt cx="9143980" cy="4282350"/>
          </a:xfrm>
        </p:grpSpPr>
        <p:sp>
          <p:nvSpPr>
            <p:cNvPr id="267" name="Google Shape;267;p30"/>
            <p:cNvSpPr/>
            <p:nvPr/>
          </p:nvSpPr>
          <p:spPr>
            <a:xfrm>
              <a:off x="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8" name="Google Shape;268;p30"/>
            <p:cNvSpPr/>
            <p:nvPr/>
          </p:nvSpPr>
          <p:spPr>
            <a:xfrm flipH="1" rot="10800000">
              <a:off x="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9" name="Google Shape;269;p30"/>
            <p:cNvSpPr/>
            <p:nvPr/>
          </p:nvSpPr>
          <p:spPr>
            <a:xfrm>
              <a:off x="301799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0" name="Google Shape;270;p30"/>
            <p:cNvSpPr/>
            <p:nvPr/>
          </p:nvSpPr>
          <p:spPr>
            <a:xfrm flipH="1" rot="10800000">
              <a:off x="301799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1" name="Google Shape;271;p30"/>
            <p:cNvSpPr/>
            <p:nvPr/>
          </p:nvSpPr>
          <p:spPr>
            <a:xfrm>
              <a:off x="6035980" y="65570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2" name="Google Shape;272;p30"/>
            <p:cNvSpPr/>
            <p:nvPr/>
          </p:nvSpPr>
          <p:spPr>
            <a:xfrm flipH="1" rot="10800000">
              <a:off x="6035980" y="2454050"/>
              <a:ext cx="3108000" cy="2484000"/>
            </a:xfrm>
            <a:prstGeom prst="snip2Same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73" name="Google Shape;273;p30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74" name="Google Shape;274;p30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5" name="Google Shape;275;p30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7" name="Google Shape;277;p30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278" name="Google Shape;278;p30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79" name="Google Shape;279;p30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0" name="Google Shape;280;p30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81" name="Google Shape;281;p30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82" name="Google Shape;282;p30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84" name="Google Shape;284;p30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285" name="Google Shape;285;p30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wo column 3">
  <p:cSld name="CAPTION_ONLY_1">
    <p:bg>
      <p:bgPr>
        <a:solidFill>
          <a:schemeClr val="accent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31"/>
          <p:cNvGrpSpPr/>
          <p:nvPr/>
        </p:nvGrpSpPr>
        <p:grpSpPr>
          <a:xfrm>
            <a:off x="45" y="656725"/>
            <a:ext cx="9144010" cy="4268100"/>
            <a:chOff x="45" y="656725"/>
            <a:chExt cx="9144010" cy="4268100"/>
          </a:xfrm>
        </p:grpSpPr>
        <p:sp>
          <p:nvSpPr>
            <p:cNvPr id="288" name="Google Shape;288;p31"/>
            <p:cNvSpPr/>
            <p:nvPr/>
          </p:nvSpPr>
          <p:spPr>
            <a:xfrm flipH="1" rot="-5400000">
              <a:off x="120255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 rot="5400000">
              <a:off x="-892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 flipH="1" rot="5400000">
              <a:off x="367344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 rot="-5400000">
              <a:off x="5768305" y="1549075"/>
              <a:ext cx="4268100" cy="2483400"/>
            </a:xfrm>
            <a:prstGeom prst="round2DiagRect">
              <a:avLst>
                <a:gd fmla="val 50000" name="adj1"/>
                <a:gd fmla="val 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92" name="Google Shape;292;p31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94" name="Google Shape;294;p31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5" name="Google Shape;295;p31"/>
          <p:cNvSpPr txBox="1"/>
          <p:nvPr>
            <p:ph type="title"/>
          </p:nvPr>
        </p:nvSpPr>
        <p:spPr>
          <a:xfrm>
            <a:off x="420375" y="2504337"/>
            <a:ext cx="37311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296" name="Google Shape;296;p31"/>
          <p:cNvSpPr txBox="1"/>
          <p:nvPr>
            <p:ph idx="2" type="title"/>
          </p:nvPr>
        </p:nvSpPr>
        <p:spPr>
          <a:xfrm>
            <a:off x="5675995" y="176843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5675995" y="209446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298" name="Google Shape;298;p31"/>
          <p:cNvSpPr txBox="1"/>
          <p:nvPr>
            <p:ph idx="3" type="title"/>
          </p:nvPr>
        </p:nvSpPr>
        <p:spPr>
          <a:xfrm>
            <a:off x="5675995" y="3148188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299" name="Google Shape;299;p31"/>
          <p:cNvSpPr txBox="1"/>
          <p:nvPr>
            <p:ph idx="4" type="body"/>
          </p:nvPr>
        </p:nvSpPr>
        <p:spPr>
          <a:xfrm>
            <a:off x="5675995" y="347421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00" name="Google Shape;300;p31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02" name="Google Shape;302;p31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03" name="Google Shape;303;p31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rizontal two column 3">
  <p:cSld name="BIG_NUMBER_2">
    <p:bg>
      <p:bgPr>
        <a:solidFill>
          <a:schemeClr val="accent3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32"/>
          <p:cNvGrpSpPr/>
          <p:nvPr/>
        </p:nvGrpSpPr>
        <p:grpSpPr>
          <a:xfrm>
            <a:off x="0" y="650025"/>
            <a:ext cx="9143966" cy="4268100"/>
            <a:chOff x="0" y="650025"/>
            <a:chExt cx="9143966" cy="4268100"/>
          </a:xfrm>
        </p:grpSpPr>
        <p:sp>
          <p:nvSpPr>
            <p:cNvPr id="306" name="Google Shape;306;p32"/>
            <p:cNvSpPr/>
            <p:nvPr/>
          </p:nvSpPr>
          <p:spPr>
            <a:xfrm>
              <a:off x="0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7" name="Google Shape;307;p32"/>
            <p:cNvSpPr/>
            <p:nvPr/>
          </p:nvSpPr>
          <p:spPr>
            <a:xfrm>
              <a:off x="3037633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08" name="Google Shape;308;p32"/>
            <p:cNvSpPr/>
            <p:nvPr/>
          </p:nvSpPr>
          <p:spPr>
            <a:xfrm>
              <a:off x="6075266" y="650025"/>
              <a:ext cx="3068700" cy="4268100"/>
            </a:xfrm>
            <a:prstGeom prst="plaque">
              <a:avLst>
                <a:gd fmla="val 21361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09" name="Google Shape;309;p32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0" name="Google Shape;310;p32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1" name="Google Shape;311;p32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13" name="Google Shape;313;p32"/>
          <p:cNvSpPr txBox="1"/>
          <p:nvPr>
            <p:ph type="title"/>
          </p:nvPr>
        </p:nvSpPr>
        <p:spPr>
          <a:xfrm>
            <a:off x="434800" y="2593849"/>
            <a:ext cx="23256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Font typeface="Figtree"/>
              <a:buNone/>
              <a:defRPr sz="2600"/>
            </a:lvl9pPr>
          </a:lstStyle>
          <a:p/>
        </p:txBody>
      </p:sp>
      <p:sp>
        <p:nvSpPr>
          <p:cNvPr id="314" name="Google Shape;314;p32"/>
          <p:cNvSpPr txBox="1"/>
          <p:nvPr>
            <p:ph idx="2" type="title"/>
          </p:nvPr>
        </p:nvSpPr>
        <p:spPr>
          <a:xfrm>
            <a:off x="3410831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5" name="Google Shape;315;p32"/>
          <p:cNvSpPr txBox="1"/>
          <p:nvPr>
            <p:ph idx="1" type="body"/>
          </p:nvPr>
        </p:nvSpPr>
        <p:spPr>
          <a:xfrm>
            <a:off x="3410831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6" name="Google Shape;316;p32"/>
          <p:cNvSpPr txBox="1"/>
          <p:nvPr>
            <p:ph idx="3" type="title"/>
          </p:nvPr>
        </p:nvSpPr>
        <p:spPr>
          <a:xfrm>
            <a:off x="6454256" y="2280747"/>
            <a:ext cx="2325600" cy="200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 ExtraBold"/>
              <a:buNone/>
              <a:defRPr b="0" sz="1300">
                <a:latin typeface="Figtree ExtraBold"/>
                <a:ea typeface="Figtree ExtraBold"/>
                <a:cs typeface="Figtree ExtraBold"/>
                <a:sym typeface="Figtree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17" name="Google Shape;317;p32"/>
          <p:cNvSpPr txBox="1"/>
          <p:nvPr>
            <p:ph idx="4" type="body"/>
          </p:nvPr>
        </p:nvSpPr>
        <p:spPr>
          <a:xfrm>
            <a:off x="6454256" y="2606773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18" name="Google Shape;318;p32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19" name="Google Shape;319;p32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20" name="Google Shape;320;p32"/>
          <p:cNvSpPr txBox="1"/>
          <p:nvPr>
            <p:ph idx="5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21" name="Google Shape;321;p32"/>
          <p:cNvSpPr txBox="1"/>
          <p:nvPr>
            <p:ph idx="6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points 2">
  <p:cSld name="BIG_NUMBER_1_2">
    <p:bg>
      <p:bgPr>
        <a:solidFill>
          <a:schemeClr val="dk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33"/>
          <p:cNvGrpSpPr/>
          <p:nvPr/>
        </p:nvGrpSpPr>
        <p:grpSpPr>
          <a:xfrm>
            <a:off x="0" y="1477575"/>
            <a:ext cx="9145300" cy="3447050"/>
            <a:chOff x="0" y="1477575"/>
            <a:chExt cx="9145300" cy="3447050"/>
          </a:xfrm>
        </p:grpSpPr>
        <p:sp>
          <p:nvSpPr>
            <p:cNvPr id="324" name="Google Shape;324;p33"/>
            <p:cNvSpPr/>
            <p:nvPr/>
          </p:nvSpPr>
          <p:spPr>
            <a:xfrm>
              <a:off x="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3"/>
            <p:cNvSpPr/>
            <p:nvPr/>
          </p:nvSpPr>
          <p:spPr>
            <a:xfrm>
              <a:off x="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3"/>
            <p:cNvSpPr/>
            <p:nvPr/>
          </p:nvSpPr>
          <p:spPr>
            <a:xfrm>
              <a:off x="60973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3"/>
            <p:cNvSpPr/>
            <p:nvPr/>
          </p:nvSpPr>
          <p:spPr>
            <a:xfrm>
              <a:off x="60973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3"/>
            <p:cNvSpPr/>
            <p:nvPr/>
          </p:nvSpPr>
          <p:spPr>
            <a:xfrm>
              <a:off x="3048000" y="3195412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3"/>
            <p:cNvSpPr/>
            <p:nvPr/>
          </p:nvSpPr>
          <p:spPr>
            <a:xfrm>
              <a:off x="3048000" y="1477575"/>
              <a:ext cx="3048000" cy="1729213"/>
            </a:xfrm>
            <a:prstGeom prst="flowChartPreparation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33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31" name="Google Shape;331;p33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2" name="Google Shape;332;p33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" name="Google Shape;333;p33"/>
          <p:cNvSpPr txBox="1"/>
          <p:nvPr>
            <p:ph type="title"/>
          </p:nvPr>
        </p:nvSpPr>
        <p:spPr>
          <a:xfrm>
            <a:off x="437250" y="768288"/>
            <a:ext cx="82695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gtree"/>
              <a:buNone/>
              <a:defRPr sz="2500"/>
            </a:lvl9pPr>
          </a:lstStyle>
          <a:p/>
        </p:txBody>
      </p:sp>
      <p:sp>
        <p:nvSpPr>
          <p:cNvPr id="334" name="Google Shape;334;p33"/>
          <p:cNvSpPr txBox="1"/>
          <p:nvPr>
            <p:ph idx="2" type="title"/>
          </p:nvPr>
        </p:nvSpPr>
        <p:spPr>
          <a:xfrm>
            <a:off x="3409838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5" name="Google Shape;335;p33"/>
          <p:cNvSpPr txBox="1"/>
          <p:nvPr>
            <p:ph idx="1" type="body"/>
          </p:nvPr>
        </p:nvSpPr>
        <p:spPr>
          <a:xfrm>
            <a:off x="3409838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6" name="Google Shape;336;p33"/>
          <p:cNvSpPr txBox="1"/>
          <p:nvPr>
            <p:ph idx="3" type="title"/>
          </p:nvPr>
        </p:nvSpPr>
        <p:spPr>
          <a:xfrm>
            <a:off x="362475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7" name="Google Shape;337;p33"/>
          <p:cNvSpPr txBox="1"/>
          <p:nvPr>
            <p:ph idx="4" type="body"/>
          </p:nvPr>
        </p:nvSpPr>
        <p:spPr>
          <a:xfrm>
            <a:off x="362475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38" name="Google Shape;338;p33"/>
          <p:cNvSpPr txBox="1"/>
          <p:nvPr>
            <p:ph idx="5" type="title"/>
          </p:nvPr>
        </p:nvSpPr>
        <p:spPr>
          <a:xfrm>
            <a:off x="6457200" y="202647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39" name="Google Shape;339;p33"/>
          <p:cNvSpPr txBox="1"/>
          <p:nvPr>
            <p:ph idx="6" type="body"/>
          </p:nvPr>
        </p:nvSpPr>
        <p:spPr>
          <a:xfrm>
            <a:off x="6457200" y="235250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0" name="Google Shape;340;p33"/>
          <p:cNvSpPr txBox="1"/>
          <p:nvPr>
            <p:ph idx="7" type="title"/>
          </p:nvPr>
        </p:nvSpPr>
        <p:spPr>
          <a:xfrm>
            <a:off x="362475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1" name="Google Shape;341;p33"/>
          <p:cNvSpPr txBox="1"/>
          <p:nvPr>
            <p:ph idx="8" type="body"/>
          </p:nvPr>
        </p:nvSpPr>
        <p:spPr>
          <a:xfrm>
            <a:off x="362475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2" name="Google Shape;342;p33"/>
          <p:cNvSpPr txBox="1"/>
          <p:nvPr>
            <p:ph idx="9" type="title"/>
          </p:nvPr>
        </p:nvSpPr>
        <p:spPr>
          <a:xfrm>
            <a:off x="340920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3" name="Google Shape;343;p33"/>
          <p:cNvSpPr txBox="1"/>
          <p:nvPr>
            <p:ph idx="13" type="body"/>
          </p:nvPr>
        </p:nvSpPr>
        <p:spPr>
          <a:xfrm>
            <a:off x="340920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4" name="Google Shape;344;p33"/>
          <p:cNvSpPr txBox="1"/>
          <p:nvPr>
            <p:ph idx="14" type="title"/>
          </p:nvPr>
        </p:nvSpPr>
        <p:spPr>
          <a:xfrm>
            <a:off x="6381150" y="3711025"/>
            <a:ext cx="2325600" cy="2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Font typeface="Figtree"/>
              <a:buNone/>
              <a:defRPr sz="1300"/>
            </a:lvl9pPr>
          </a:lstStyle>
          <a:p/>
        </p:txBody>
      </p:sp>
      <p:sp>
        <p:nvSpPr>
          <p:cNvPr id="345" name="Google Shape;345;p33"/>
          <p:cNvSpPr txBox="1"/>
          <p:nvPr>
            <p:ph idx="15" type="body"/>
          </p:nvPr>
        </p:nvSpPr>
        <p:spPr>
          <a:xfrm>
            <a:off x="6381150" y="4037050"/>
            <a:ext cx="2325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●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○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Figtree"/>
              <a:buChar char="■"/>
              <a:defRPr sz="11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46" name="Google Shape;346;p33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48" name="Google Shape;348;p33"/>
          <p:cNvSpPr txBox="1"/>
          <p:nvPr>
            <p:ph idx="16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49" name="Google Shape;349;p33"/>
          <p:cNvSpPr txBox="1"/>
          <p:nvPr>
            <p:ph idx="17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">
  <p:cSld name="BIG_NUMBER_1_1">
    <p:bg>
      <p:bgPr>
        <a:solidFill>
          <a:schemeClr val="lt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2" name="Google Shape;352;p34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3" name="Google Shape;353;p34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4"/>
          <p:cNvSpPr/>
          <p:nvPr/>
        </p:nvSpPr>
        <p:spPr>
          <a:xfrm>
            <a:off x="-150" y="656513"/>
            <a:ext cx="9144300" cy="4268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5" name="Google Shape;355;p34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56" name="Google Shape;356;p34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7" name="Google Shape;357;p34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58" name="Google Shape;358;p34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59" name="Google Shape;359;p34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">
  <p:cSld name="BIG_NUMBER_1_1_1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35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62" name="Google Shape;362;p35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35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35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5" name="Google Shape;365;p35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6" name="Google Shape;366;p35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67" name="Google Shape;367;p35"/>
          <p:cNvSpPr txBox="1"/>
          <p:nvPr>
            <p:ph idx="1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8" name="Google Shape;368;p35"/>
          <p:cNvSpPr txBox="1"/>
          <p:nvPr>
            <p:ph idx="2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69" name="Google Shape;369;p35"/>
          <p:cNvSpPr txBox="1"/>
          <p:nvPr>
            <p:ph idx="3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370" name="Google Shape;370;p35"/>
          <p:cNvSpPr txBox="1"/>
          <p:nvPr>
            <p:ph idx="4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1" name="Google Shape;371;p35"/>
          <p:cNvSpPr txBox="1"/>
          <p:nvPr>
            <p:ph idx="5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2" name="Google Shape;372;p35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373" name="Google Shape;373;p35"/>
          <p:cNvSpPr txBox="1"/>
          <p:nvPr>
            <p:ph idx="6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4" name="Google Shape;374;p35"/>
          <p:cNvSpPr txBox="1"/>
          <p:nvPr>
            <p:ph idx="7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375" name="Google Shape;375;p35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6" name="Google Shape;376;p35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35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78" name="Google Shape;378;p35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379" name="Google Shape;379;p35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35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81" name="Google Shape;381;p35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1, response">
  <p:cSld name="BIG_NUMBER_1_1_1_1_1">
    <p:bg>
      <p:bgPr>
        <a:solidFill>
          <a:schemeClr val="accent3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36"/>
          <p:cNvGrpSpPr/>
          <p:nvPr/>
        </p:nvGrpSpPr>
        <p:grpSpPr>
          <a:xfrm>
            <a:off x="-968" y="656650"/>
            <a:ext cx="9145937" cy="4268100"/>
            <a:chOff x="1666" y="656650"/>
            <a:chExt cx="9144108" cy="4268100"/>
          </a:xfrm>
        </p:grpSpPr>
        <p:sp>
          <p:nvSpPr>
            <p:cNvPr id="384" name="Google Shape;384;p36"/>
            <p:cNvSpPr/>
            <p:nvPr/>
          </p:nvSpPr>
          <p:spPr>
            <a:xfrm>
              <a:off x="166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5" name="Google Shape;385;p36"/>
            <p:cNvSpPr/>
            <p:nvPr/>
          </p:nvSpPr>
          <p:spPr>
            <a:xfrm>
              <a:off x="1808746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6" name="Google Shape;386;p36"/>
            <p:cNvSpPr/>
            <p:nvPr/>
          </p:nvSpPr>
          <p:spPr>
            <a:xfrm>
              <a:off x="361582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7" name="Google Shape;387;p36"/>
            <p:cNvSpPr/>
            <p:nvPr/>
          </p:nvSpPr>
          <p:spPr>
            <a:xfrm>
              <a:off x="5422907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8" name="Google Shape;388;p36"/>
            <p:cNvSpPr/>
            <p:nvPr/>
          </p:nvSpPr>
          <p:spPr>
            <a:xfrm>
              <a:off x="7229974" y="656650"/>
              <a:ext cx="1915800" cy="4268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89" name="Google Shape;389;p36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0" name="Google Shape;390;p36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1" name="Google Shape;391;p36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" name="Google Shape;392;p36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393" name="Google Shape;393;p36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395" name="Google Shape;395;p36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396" name="Google Shape;396;p36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">
  <p:cSld name="BIG_NUMBER_1_1_1_1_2">
    <p:bg>
      <p:bgPr>
        <a:solidFill>
          <a:schemeClr val="accent2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37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399" name="Google Shape;399;p37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0" name="Google Shape;400;p37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01" name="Google Shape;401;p37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932400" y="2487400"/>
            <a:ext cx="72792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Font typeface="Figtree"/>
              <a:buChar char="■"/>
              <a:defRPr/>
            </a:lvl9pPr>
          </a:lstStyle>
          <a:p/>
        </p:txBody>
      </p:sp>
      <p:sp>
        <p:nvSpPr>
          <p:cNvPr id="403" name="Google Shape;403;p37"/>
          <p:cNvSpPr txBox="1"/>
          <p:nvPr>
            <p:ph type="title"/>
          </p:nvPr>
        </p:nvSpPr>
        <p:spPr>
          <a:xfrm>
            <a:off x="932400" y="1634950"/>
            <a:ext cx="7279200" cy="57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Figtree"/>
              <a:buNone/>
              <a:defRPr/>
            </a:lvl9pPr>
          </a:lstStyle>
          <a:p/>
        </p:txBody>
      </p:sp>
      <p:sp>
        <p:nvSpPr>
          <p:cNvPr id="404" name="Google Shape;404;p37"/>
          <p:cNvSpPr txBox="1"/>
          <p:nvPr>
            <p:ph idx="2" type="body"/>
          </p:nvPr>
        </p:nvSpPr>
        <p:spPr>
          <a:xfrm>
            <a:off x="9324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5" name="Google Shape;405;p37"/>
          <p:cNvSpPr txBox="1"/>
          <p:nvPr>
            <p:ph idx="3" type="body"/>
          </p:nvPr>
        </p:nvSpPr>
        <p:spPr>
          <a:xfrm>
            <a:off x="9324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6" name="Google Shape;406;p37"/>
          <p:cNvSpPr txBox="1"/>
          <p:nvPr>
            <p:ph idx="4" type="body"/>
          </p:nvPr>
        </p:nvSpPr>
        <p:spPr>
          <a:xfrm>
            <a:off x="35137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7" name="Google Shape;407;p37"/>
          <p:cNvSpPr txBox="1"/>
          <p:nvPr>
            <p:ph idx="5" type="body"/>
          </p:nvPr>
        </p:nvSpPr>
        <p:spPr>
          <a:xfrm>
            <a:off x="35137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8" name="Google Shape;408;p37"/>
          <p:cNvSpPr txBox="1"/>
          <p:nvPr>
            <p:ph idx="6" type="body"/>
          </p:nvPr>
        </p:nvSpPr>
        <p:spPr>
          <a:xfrm>
            <a:off x="6095150" y="3270238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09" name="Google Shape;409;p37"/>
          <p:cNvSpPr txBox="1"/>
          <p:nvPr>
            <p:ph idx="7" type="body"/>
          </p:nvPr>
        </p:nvSpPr>
        <p:spPr>
          <a:xfrm>
            <a:off x="6095150" y="3502400"/>
            <a:ext cx="2116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410" name="Google Shape;410;p37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1" name="Google Shape;411;p37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cxnSp>
        <p:nvCxnSpPr>
          <p:cNvPr id="414" name="Google Shape;414;p37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5" name="Google Shape;415;p37"/>
          <p:cNvSpPr txBox="1"/>
          <p:nvPr>
            <p:ph idx="8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idx="9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iz 2, response">
  <p:cSld name="BIG_NUMBER_1_1_1_1_1_2">
    <p:bg>
      <p:bgPr>
        <a:solidFill>
          <a:schemeClr val="accent3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38"/>
          <p:cNvGrpSpPr/>
          <p:nvPr/>
        </p:nvGrpSpPr>
        <p:grpSpPr>
          <a:xfrm>
            <a:off x="-25" y="656526"/>
            <a:ext cx="9143972" cy="4268100"/>
            <a:chOff x="-25" y="656526"/>
            <a:chExt cx="9143972" cy="4268100"/>
          </a:xfrm>
        </p:grpSpPr>
        <p:sp>
          <p:nvSpPr>
            <p:cNvPr id="419" name="Google Shape;419;p38"/>
            <p:cNvSpPr/>
            <p:nvPr/>
          </p:nvSpPr>
          <p:spPr>
            <a:xfrm rot="-5400000">
              <a:off x="-110875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0" name="Google Shape;420;p38"/>
            <p:cNvSpPr/>
            <p:nvPr/>
          </p:nvSpPr>
          <p:spPr>
            <a:xfrm rot="-5400000">
              <a:off x="2437854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  <p:sp>
          <p:nvSpPr>
            <p:cNvPr id="421" name="Google Shape;421;p38"/>
            <p:cNvSpPr/>
            <p:nvPr/>
          </p:nvSpPr>
          <p:spPr>
            <a:xfrm rot="-5400000">
              <a:off x="4986697" y="767376"/>
              <a:ext cx="4268100" cy="4046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Figtree SemiBold"/>
                <a:ea typeface="Figtree SemiBold"/>
                <a:cs typeface="Figtree SemiBold"/>
                <a:sym typeface="Figtree SemiBold"/>
              </a:endParaRPr>
            </a:p>
          </p:txBody>
        </p:sp>
      </p:grpSp>
      <p:sp>
        <p:nvSpPr>
          <p:cNvPr id="422" name="Google Shape;422;p38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3" name="Google Shape;423;p38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24" name="Google Shape;424;p38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38"/>
          <p:cNvSpPr txBox="1"/>
          <p:nvPr>
            <p:ph type="ctrTitle"/>
          </p:nvPr>
        </p:nvSpPr>
        <p:spPr>
          <a:xfrm>
            <a:off x="1313250" y="2109413"/>
            <a:ext cx="6517500" cy="136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426" name="Google Shape;426;p38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28" name="Google Shape;428;p38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29" name="Google Shape;429;p38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 type="blank">
  <p:cSld name="BLANK">
    <p:bg>
      <p:bgPr>
        <a:solidFill>
          <a:schemeClr val="dk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9"/>
          <p:cNvSpPr/>
          <p:nvPr/>
        </p:nvSpPr>
        <p:spPr>
          <a:xfrm>
            <a:off x="110838" y="113400"/>
            <a:ext cx="7947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2" name="Google Shape;432;p39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3" name="Google Shape;433;p39"/>
          <p:cNvCxnSpPr/>
          <p:nvPr/>
        </p:nvCxnSpPr>
        <p:spPr>
          <a:xfrm>
            <a:off x="111000" y="443900"/>
            <a:ext cx="8922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4" name="Google Shape;434;p39"/>
          <p:cNvSpPr/>
          <p:nvPr/>
        </p:nvSpPr>
        <p:spPr>
          <a:xfrm>
            <a:off x="74437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5" name="Google Shape;435;p39"/>
          <p:cNvSpPr/>
          <p:nvPr/>
        </p:nvSpPr>
        <p:spPr>
          <a:xfrm>
            <a:off x="5776463" y="113400"/>
            <a:ext cx="1589400" cy="2268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Figtree SemiBold"/>
              <a:ea typeface="Figtree SemiBold"/>
              <a:cs typeface="Figtree SemiBold"/>
              <a:sym typeface="Figtree SemiBold"/>
            </a:endParaRPr>
          </a:p>
        </p:txBody>
      </p:sp>
      <p:sp>
        <p:nvSpPr>
          <p:cNvPr id="436" name="Google Shape;436;p39"/>
          <p:cNvSpPr txBox="1"/>
          <p:nvPr>
            <p:ph idx="1" type="subTitle"/>
          </p:nvPr>
        </p:nvSpPr>
        <p:spPr>
          <a:xfrm>
            <a:off x="5809350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  <p:sp>
        <p:nvSpPr>
          <p:cNvPr id="437" name="Google Shape;437;p39"/>
          <p:cNvSpPr txBox="1"/>
          <p:nvPr>
            <p:ph idx="2" type="subTitle"/>
          </p:nvPr>
        </p:nvSpPr>
        <p:spPr>
          <a:xfrm>
            <a:off x="7476775" y="58800"/>
            <a:ext cx="155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Figtree SemiBold"/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4" name="Google Shape;444;p41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45" name="Google Shape;445;p41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46" name="Google Shape;446;p41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447" name="Google Shape;447;p41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1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1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50" name="Google Shape;450;p41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51" name="Google Shape;451;p41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452" name="Google Shape;452;p41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453" name="Google Shape;453;p41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54" name="Google Shape;454;p4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41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6" name="Google Shape;456;p41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2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59" name="Google Shape;459;p42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0" name="Google Shape;460;p4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61" name="Google Shape;461;p4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42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3" name="Google Shape;463;p42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43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6" name="Google Shape;466;p43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7" name="Google Shape;467;p43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8" name="Google Shape;468;p43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9" name="Google Shape;469;p4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70" name="Google Shape;470;p4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1" name="Google Shape;471;p43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2" name="Google Shape;472;p43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3" name="Google Shape;473;p43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4" name="Google Shape;474;p43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5" name="Google Shape;475;p43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4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8" name="Google Shape;478;p44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9" name="Google Shape;479;p44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0" name="Google Shape;480;p44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81" name="Google Shape;481;p44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44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3" name="Google Shape;483;p44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84" name="Google Shape;484;p4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85" name="Google Shape;485;p4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6" name="Google Shape;486;p4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7" name="Google Shape;487;p4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8" name="Google Shape;488;p44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9" name="Google Shape;489;p44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0" name="Google Shape;490;p44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1" name="Google Shape;491;p44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2" name="Google Shape;492;p44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3" name="Google Shape;493;p44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4" name="Google Shape;494;p44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5" name="Google Shape;495;p44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6" name="Google Shape;496;p44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7" name="Google Shape;497;p44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8" name="Google Shape;498;p44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501" name="Google Shape;501;p45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2" name="Google Shape;502;p45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03" name="Google Shape;503;p45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4" name="Google Shape;504;p45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5" name="Google Shape;505;p45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6" name="Google Shape;506;p45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7" name="Google Shape;507;p45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8" name="Google Shape;508;p45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9" name="Google Shape;509;p45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0" name="Google Shape;510;p45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1" name="Google Shape;511;p45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2" name="Google Shape;512;p45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3" name="Google Shape;513;p45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4" name="Google Shape;514;p45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5" name="Google Shape;515;p45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6" name="Google Shape;516;p45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7" name="Google Shape;517;p45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8" name="Google Shape;518;p45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9" name="Google Shape;519;p45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0" name="Google Shape;520;p45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1" name="Google Shape;521;p45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2" name="Google Shape;522;p45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3" name="Google Shape;523;p45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4" name="Google Shape;524;p45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5" name="Google Shape;525;p45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6" name="Google Shape;526;p45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27" name="Google Shape;527;p45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28" name="Google Shape;528;p4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9" name="Google Shape;529;p4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5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1" name="Google Shape;531;p45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46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534" name="Google Shape;534;p46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35" name="Google Shape;535;p46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36" name="Google Shape;536;p46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37" name="Google Shape;537;p46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538" name="Google Shape;538;p46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39" name="Google Shape;539;p46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40" name="Google Shape;540;p46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541" name="Google Shape;541;p46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2" name="Google Shape;542;p46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43" name="Google Shape;543;p46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4" name="Google Shape;544;p46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5" name="Google Shape;545;p46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46" name="Google Shape;546;p46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7" name="Google Shape;547;p46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8" name="Google Shape;548;p46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49" name="Google Shape;549;p46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0" name="Google Shape;550;p46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1" name="Google Shape;551;p46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52" name="Google Shape;552;p46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3" name="Google Shape;553;p46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4" name="Google Shape;554;p46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55" name="Google Shape;555;p46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6" name="Google Shape;556;p46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7" name="Google Shape;557;p46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58" name="Google Shape;558;p46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9" name="Google Shape;559;p46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560" name="Google Shape;560;p46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1" name="Google Shape;561;p4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2" name="Google Shape;562;p4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3" name="Google Shape;563;p46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4" name="Google Shape;564;p46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6" name="Google Shape;566;p47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567" name="Google Shape;567;p47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68" name="Google Shape;568;p47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69" name="Google Shape;569;p47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0" name="Google Shape;570;p47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1" name="Google Shape;571;p47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2" name="Google Shape;572;p47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3" name="Google Shape;573;p47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74" name="Google Shape;574;p47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575" name="Google Shape;575;p47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76" name="Google Shape;576;p47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7" name="Google Shape;577;p47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8" name="Google Shape;578;p4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79" name="Google Shape;579;p4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4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1" name="Google Shape;581;p4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48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84" name="Google Shape;584;p48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585" name="Google Shape;585;p48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86" name="Google Shape;586;p48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587" name="Google Shape;587;p48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88" name="Google Shape;588;p48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89" name="Google Shape;589;p48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90" name="Google Shape;590;p48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591" name="Google Shape;591;p48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592" name="Google Shape;592;p4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93" name="Google Shape;593;p4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48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5" name="Google Shape;595;p48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9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8" name="Google Shape;598;p49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9" name="Google Shape;599;p49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0" name="Google Shape;600;p49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1" name="Google Shape;601;p49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2" name="Google Shape;602;p49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3" name="Google Shape;603;p49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04" name="Google Shape;604;p49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5" name="Google Shape;605;p49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6" name="Google Shape;606;p49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7" name="Google Shape;607;p49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08" name="Google Shape;608;p4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09" name="Google Shape;609;p4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49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1" name="Google Shape;611;p49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50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4" name="Google Shape;614;p50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15" name="Google Shape;615;p50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6" name="Google Shape;616;p50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7" name="Google Shape;617;p50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19" name="Google Shape;619;p5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1" name="Google Shape;621;p50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1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4" name="Google Shape;624;p51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25" name="Google Shape;625;p51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626" name="Google Shape;626;p5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27" name="Google Shape;627;p5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28" name="Google Shape;628;p51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629" name="Google Shape;629;p51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0" name="Google Shape;630;p51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631" name="Google Shape;631;p51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2" name="Google Shape;632;p51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3" name="Google Shape;633;p51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34" name="Google Shape;634;p51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5" name="Google Shape;635;p51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36" name="Google Shape;636;p51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7" name="Google Shape;637;p51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8" name="Google Shape;638;p5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39" name="Google Shape;639;p5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0" name="Google Shape;640;p51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1" name="Google Shape;641;p51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52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4" name="Google Shape;644;p52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5" name="Google Shape;645;p52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46" name="Google Shape;646;p52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7" name="Google Shape;647;p52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48" name="Google Shape;648;p52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9" name="Google Shape;649;p52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50" name="Google Shape;650;p52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51" name="Google Shape;651;p52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52" name="Google Shape;652;p52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3" name="Google Shape;653;p5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4" name="Google Shape;654;p5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5" name="Google Shape;655;p52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6" name="Google Shape;656;p52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3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9" name="Google Shape;659;p53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0" name="Google Shape;660;p53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1" name="Google Shape;661;p53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2" name="Google Shape;662;p53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53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53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5" name="Google Shape;665;p53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6" name="Google Shape;666;p5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67" name="Google Shape;667;p5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8" name="Google Shape;668;p53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9" name="Google Shape;669;p53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53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3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3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4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5" name="Google Shape;675;p5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76" name="Google Shape;676;p5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7" name="Google Shape;677;p54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8" name="Google Shape;678;p54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5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1" name="Google Shape;681;p55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2" name="Google Shape;682;p55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83" name="Google Shape;683;p55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4" name="Google Shape;684;p55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85" name="Google Shape;685;p55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6" name="Google Shape;686;p55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87" name="Google Shape;687;p55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89" name="Google Shape;689;p5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55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1" name="Google Shape;691;p55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2" name="Google Shape;692;p55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3" name="Google Shape;693;p55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5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7" name="Google Shape;697;p56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6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9" name="Google Shape;699;p56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0" name="Google Shape;700;p56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1" name="Google Shape;701;p5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02" name="Google Shape;702;p5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3" name="Google Shape;703;p5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7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7" name="Google Shape;707;p57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8" name="Google Shape;708;p57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9" name="Google Shape;709;p57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7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7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2" name="Google Shape;712;p57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3" name="Google Shape;713;p57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57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6" name="Google Shape;716;p5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17" name="Google Shape;717;p5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57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9" name="Google Shape;719;p57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1" name="Google Shape;721;p58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2" name="Google Shape;722;p58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3" name="Google Shape;723;p58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4" name="Google Shape;724;p58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25" name="Google Shape;725;p58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6" name="Google Shape;726;p58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27" name="Google Shape;727;p58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28" name="Google Shape;728;p58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29" name="Google Shape;729;p58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30" name="Google Shape;730;p58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31" name="Google Shape;731;p58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732" name="Google Shape;732;p58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733" name="Google Shape;733;p58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34" name="Google Shape;734;p58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35" name="Google Shape;735;p58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736" name="Google Shape;736;p5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7" name="Google Shape;737;p5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8" name="Google Shape;738;p58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9" name="Google Shape;739;p58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59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742" name="Google Shape;742;p59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3" name="Google Shape;743;p5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44" name="Google Shape;744;p59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745" name="Google Shape;745;p59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46" name="Google Shape;746;p59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47" name="Google Shape;747;p59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48" name="Google Shape;748;p59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49" name="Google Shape;749;p59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50" name="Google Shape;750;p59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751" name="Google Shape;751;p5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2" name="Google Shape;752;p59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3" name="Google Shape;753;p59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0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756" name="Google Shape;756;p6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57" name="Google Shape;757;p6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8" name="Google Shape;758;p60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9" name="Google Shape;759;p60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760" name="Google Shape;760;p60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761" name="Google Shape;761;p60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62" name="Google Shape;762;p60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763" name="Google Shape;763;p60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764" name="Google Shape;764;p60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5" name="Google Shape;765;p60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66" name="Google Shape;766;p60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769" name="Google Shape;769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4" name="Google Shape;774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7" name="Google Shape;777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8" name="Google Shape;778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83" name="Google Shape;783;p6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6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788" name="Google Shape;788;p6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9" name="Google Shape;789;p6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7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794" name="Google Shape;794;p7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2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8" name="Google Shape;798;p72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9" name="Google Shape;799;p72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0" name="Google Shape;800;p72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1" name="Google Shape;801;p72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2" name="Google Shape;802;p72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03" name="Google Shape;803;p72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6" name="Google Shape;806;p73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07" name="Google Shape;807;p73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10" name="Google Shape;810;p74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1" name="Google Shape;811;p74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2" name="Google Shape;812;p74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3" name="Google Shape;813;p74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5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6" name="Google Shape;816;p75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17" name="Google Shape;817;p7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18" name="Google Shape;818;p75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75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75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1" name="Google Shape;821;p75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6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4" name="Google Shape;824;p76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5" name="Google Shape;825;p76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6" name="Google Shape;826;p76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7" name="Google Shape;827;p76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828" name="Google Shape;828;p76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9" name="Google Shape;829;p76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76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1" name="Google Shape;831;p76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4" name="Google Shape;834;p77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8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7" name="Google Shape;837;p78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38" name="Google Shape;838;p78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39" name="Google Shape;839;p78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0" name="Google Shape;840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1" name="Google Shape;841;p78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42" name="Google Shape;842;p78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9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5" name="Google Shape;845;p79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79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79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8" name="Google Shape;848;p79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49" name="Google Shape;849;p79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50" name="Google Shape;850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1" name="Google Shape;851;p79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2" name="Google Shape;852;p79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3" name="Google Shape;853;p79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80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81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8" name="Google Shape;858;p81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59" name="Google Shape;859;p81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0" name="Google Shape;860;p81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1" name="Google Shape;861;p81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2" name="Google Shape;862;p81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81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4" name="Google Shape;864;p81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5" name="Google Shape;865;p81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81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8.xml"/><Relationship Id="rId20" Type="http://schemas.openxmlformats.org/officeDocument/2006/relationships/slideLayout" Target="../slideLayouts/slideLayout58.xml"/><Relationship Id="rId42" Type="http://schemas.openxmlformats.org/officeDocument/2006/relationships/theme" Target="../theme/theme2.xml"/><Relationship Id="rId41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62.xml"/><Relationship Id="rId23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64.xml"/><Relationship Id="rId25" Type="http://schemas.openxmlformats.org/officeDocument/2006/relationships/slideLayout" Target="../slideLayouts/slideLayout63.xml"/><Relationship Id="rId28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67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Relationship Id="rId31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51.xml"/><Relationship Id="rId35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50.xml"/><Relationship Id="rId34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53.xml"/><Relationship Id="rId37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55.xml"/><Relationship Id="rId39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54.xml"/><Relationship Id="rId38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143700" y="102475"/>
            <a:ext cx="548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2pPr>
            <a:lvl3pPr lvl="2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3pPr>
            <a:lvl4pPr lvl="3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4pPr>
            <a:lvl5pPr lvl="4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5pPr>
            <a:lvl6pPr lvl="5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6pPr>
            <a:lvl7pPr lvl="6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7pPr>
            <a:lvl8pPr lvl="7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8pPr>
            <a:lvl9pPr lvl="8">
              <a:buNone/>
              <a:defRPr sz="1000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32400" y="2949400"/>
            <a:ext cx="72792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238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238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238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238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238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238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238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238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■"/>
              <a:defRPr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932400" y="1881350"/>
            <a:ext cx="7279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b="1" sz="3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0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40" name="Google Shape;440;p40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41" name="Google Shape;441;p40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msn.com/en-us/news/world/chinas-new-weapon-against-us-kill-line-propaganda/ar-AA1UswXT" TargetMode="External"/><Relationship Id="rId4" Type="http://schemas.openxmlformats.org/officeDocument/2006/relationships/hyperlink" Target="https://www.nytimes.com/2026/01/13/business/china-american-poverty.html" TargetMode="External"/><Relationship Id="rId5" Type="http://schemas.openxmlformats.org/officeDocument/2006/relationships/hyperlink" Target="https://www.qstheory.cn/20260104/0a091946537a4ea789a07bd4e40253b3/c.html" TargetMode="External"/><Relationship Id="rId6" Type="http://schemas.openxmlformats.org/officeDocument/2006/relationships/hyperlink" Target="https://www.forbes.com/sites/tylerroush/2026/01/27/consumer-confidence-collapsed-to-lowest-level-since-2014-in-january/" TargetMode="External"/><Relationship Id="rId7" Type="http://schemas.openxmlformats.org/officeDocument/2006/relationships/hyperlink" Target="https://fortune.com/article/bankrate-emergency-savings-report-2025/" TargetMode="External"/><Relationship Id="rId8" Type="http://schemas.openxmlformats.org/officeDocument/2006/relationships/hyperlink" Target="https://fred.stlouisfed.org/series/PSAVER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82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Exploring the American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“Kill Line”</a:t>
            </a:r>
            <a:endParaRPr/>
          </a:p>
        </p:txBody>
      </p:sp>
      <p:sp>
        <p:nvSpPr>
          <p:cNvPr id="872" name="Google Shape;872;p82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8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4" name="Google Shape;874;p8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 Zee-Cheng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3"/>
          <p:cNvSpPr txBox="1"/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880" name="Google Shape;880;p83"/>
          <p:cNvSpPr txBox="1"/>
          <p:nvPr>
            <p:ph idx="1" type="subTitle"/>
          </p:nvPr>
        </p:nvSpPr>
        <p:spPr>
          <a:xfrm>
            <a:off x="3994713" y="732225"/>
            <a:ext cx="43674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by an international biology student in December 2025</a:t>
            </a:r>
            <a:endParaRPr/>
          </a:p>
        </p:txBody>
      </p:sp>
      <p:sp>
        <p:nvSpPr>
          <p:cNvPr id="881" name="Google Shape;881;p83"/>
          <p:cNvSpPr txBox="1"/>
          <p:nvPr>
            <p:ph idx="12" type="sldNum"/>
          </p:nvPr>
        </p:nvSpPr>
        <p:spPr>
          <a:xfrm>
            <a:off x="7602455" y="232550"/>
            <a:ext cx="7593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2" name="Google Shape;882;p83"/>
          <p:cNvSpPr txBox="1"/>
          <p:nvPr>
            <p:ph idx="4" type="subTitle"/>
          </p:nvPr>
        </p:nvSpPr>
        <p:spPr>
          <a:xfrm>
            <a:off x="3994713" y="1525650"/>
            <a:ext cx="43674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Gaming term used to describe poverty</a:t>
            </a:r>
            <a:endParaRPr/>
          </a:p>
        </p:txBody>
      </p:sp>
      <p:sp>
        <p:nvSpPr>
          <p:cNvPr id="883" name="Google Shape;883;p83"/>
          <p:cNvSpPr txBox="1"/>
          <p:nvPr>
            <p:ph idx="5" type="subTitle"/>
          </p:nvPr>
        </p:nvSpPr>
        <p:spPr>
          <a:xfrm>
            <a:off x="3994713" y="2032600"/>
            <a:ext cx="43674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Picked up by </a:t>
            </a:r>
            <a:r>
              <a:rPr lang="en" u="sng">
                <a:solidFill>
                  <a:schemeClr val="hlink"/>
                </a:solidFill>
                <a:hlinkClick r:id="rId3"/>
              </a:rPr>
              <a:t>MSN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NYT,</a:t>
            </a:r>
            <a:r>
              <a:rPr lang="en"/>
              <a:t> and </a:t>
            </a:r>
            <a:r>
              <a:rPr lang="en" u="sng">
                <a:solidFill>
                  <a:schemeClr val="hlink"/>
                </a:solidFill>
                <a:hlinkClick r:id="rId5"/>
              </a:rPr>
              <a:t>Qiushi</a:t>
            </a:r>
            <a:endParaRPr/>
          </a:p>
        </p:txBody>
      </p:sp>
      <p:sp>
        <p:nvSpPr>
          <p:cNvPr id="884" name="Google Shape;884;p83"/>
          <p:cNvSpPr txBox="1"/>
          <p:nvPr>
            <p:ph idx="6" type="subTitle"/>
          </p:nvPr>
        </p:nvSpPr>
        <p:spPr>
          <a:xfrm>
            <a:off x="3994713" y="2539550"/>
            <a:ext cx="43674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Popular belief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7"/>
              </a:rPr>
              <a:t>anecdotal </a:t>
            </a:r>
            <a:r>
              <a:rPr lang="en" u="sng">
                <a:solidFill>
                  <a:schemeClr val="hlink"/>
                </a:solidFill>
                <a:hlinkClick r:id="rId8"/>
              </a:rPr>
              <a:t>evidence </a:t>
            </a:r>
            <a:r>
              <a:rPr lang="en"/>
              <a:t>gives the concept merit.</a:t>
            </a:r>
            <a:endParaRPr/>
          </a:p>
        </p:txBody>
      </p:sp>
      <p:sp>
        <p:nvSpPr>
          <p:cNvPr id="885" name="Google Shape;885;p83"/>
          <p:cNvSpPr txBox="1"/>
          <p:nvPr>
            <p:ph idx="7" type="subTitle"/>
          </p:nvPr>
        </p:nvSpPr>
        <p:spPr>
          <a:xfrm>
            <a:off x="3994713" y="3332975"/>
            <a:ext cx="43674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we visualize a “Point of No Return?”</a:t>
            </a:r>
            <a:endParaRPr/>
          </a:p>
        </p:txBody>
      </p:sp>
      <p:sp>
        <p:nvSpPr>
          <p:cNvPr id="886" name="Google Shape;886;p83"/>
          <p:cNvSpPr txBox="1"/>
          <p:nvPr>
            <p:ph idx="9" type="subTitle"/>
          </p:nvPr>
        </p:nvSpPr>
        <p:spPr>
          <a:xfrm>
            <a:off x="3278825" y="732225"/>
            <a:ext cx="6027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887" name="Google Shape;887;p83"/>
          <p:cNvSpPr txBox="1"/>
          <p:nvPr>
            <p:ph idx="13" type="subTitle"/>
          </p:nvPr>
        </p:nvSpPr>
        <p:spPr>
          <a:xfrm>
            <a:off x="3278825" y="1525650"/>
            <a:ext cx="6027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888" name="Google Shape;888;p83"/>
          <p:cNvSpPr txBox="1"/>
          <p:nvPr>
            <p:ph idx="14" type="subTitle"/>
          </p:nvPr>
        </p:nvSpPr>
        <p:spPr>
          <a:xfrm>
            <a:off x="3278825" y="2032600"/>
            <a:ext cx="6027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889" name="Google Shape;889;p83"/>
          <p:cNvSpPr txBox="1"/>
          <p:nvPr>
            <p:ph idx="15" type="subTitle"/>
          </p:nvPr>
        </p:nvSpPr>
        <p:spPr>
          <a:xfrm>
            <a:off x="3278825" y="2539550"/>
            <a:ext cx="6027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890" name="Google Shape;890;p83"/>
          <p:cNvSpPr txBox="1"/>
          <p:nvPr>
            <p:ph idx="16" type="subTitle"/>
          </p:nvPr>
        </p:nvSpPr>
        <p:spPr>
          <a:xfrm>
            <a:off x="3278825" y="3332975"/>
            <a:ext cx="6027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84"/>
          <p:cNvSpPr txBox="1"/>
          <p:nvPr>
            <p:ph type="title"/>
          </p:nvPr>
        </p:nvSpPr>
        <p:spPr>
          <a:xfrm>
            <a:off x="2659075" y="1755300"/>
            <a:ext cx="3849600" cy="1416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200"/>
              <a:t>NO.</a:t>
            </a:r>
            <a:endParaRPr sz="9200"/>
          </a:p>
        </p:txBody>
      </p:sp>
      <p:sp>
        <p:nvSpPr>
          <p:cNvPr id="896" name="Google Shape;896;p8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1" name="Google Shape;901;p85"/>
          <p:cNvGrpSpPr/>
          <p:nvPr/>
        </p:nvGrpSpPr>
        <p:grpSpPr>
          <a:xfrm>
            <a:off x="4970338" y="851918"/>
            <a:ext cx="644025" cy="121200"/>
            <a:chOff x="5238750" y="1016375"/>
            <a:chExt cx="644025" cy="121200"/>
          </a:xfrm>
        </p:grpSpPr>
        <p:cxnSp>
          <p:nvCxnSpPr>
            <p:cNvPr id="902" name="Google Shape;902;p85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85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p85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5" name="Google Shape;905;p85"/>
          <p:cNvGrpSpPr/>
          <p:nvPr/>
        </p:nvGrpSpPr>
        <p:grpSpPr>
          <a:xfrm>
            <a:off x="4970338" y="1872218"/>
            <a:ext cx="644025" cy="121200"/>
            <a:chOff x="5238750" y="1016375"/>
            <a:chExt cx="644025" cy="121200"/>
          </a:xfrm>
        </p:grpSpPr>
        <p:cxnSp>
          <p:nvCxnSpPr>
            <p:cNvPr id="906" name="Google Shape;906;p85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85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85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09" name="Google Shape;909;p85"/>
          <p:cNvGrpSpPr/>
          <p:nvPr/>
        </p:nvGrpSpPr>
        <p:grpSpPr>
          <a:xfrm>
            <a:off x="4970338" y="2892518"/>
            <a:ext cx="644025" cy="121200"/>
            <a:chOff x="5238750" y="1016375"/>
            <a:chExt cx="644025" cy="121200"/>
          </a:xfrm>
        </p:grpSpPr>
        <p:cxnSp>
          <p:nvCxnSpPr>
            <p:cNvPr id="910" name="Google Shape;910;p85"/>
            <p:cNvCxnSpPr/>
            <p:nvPr/>
          </p:nvCxnSpPr>
          <p:spPr>
            <a:xfrm>
              <a:off x="5238750" y="1076325"/>
              <a:ext cx="6402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1" name="Google Shape;911;p85"/>
            <p:cNvCxnSpPr/>
            <p:nvPr/>
          </p:nvCxnSpPr>
          <p:spPr>
            <a:xfrm rot="10800000">
              <a:off x="5822175" y="10163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2" name="Google Shape;912;p85"/>
            <p:cNvCxnSpPr/>
            <p:nvPr/>
          </p:nvCxnSpPr>
          <p:spPr>
            <a:xfrm flipH="1">
              <a:off x="5822175" y="1076975"/>
              <a:ext cx="60600" cy="606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13" name="Google Shape;913;p85"/>
          <p:cNvSpPr txBox="1"/>
          <p:nvPr>
            <p:ph type="title"/>
          </p:nvPr>
        </p:nvSpPr>
        <p:spPr>
          <a:xfrm>
            <a:off x="436725" y="1231825"/>
            <a:ext cx="23019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to Kill Line Analysis</a:t>
            </a:r>
            <a:endParaRPr/>
          </a:p>
        </p:txBody>
      </p:sp>
      <p:sp>
        <p:nvSpPr>
          <p:cNvPr id="914" name="Google Shape;914;p85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Standard Framework for Poverty Measures</a:t>
            </a:r>
            <a:endParaRPr/>
          </a:p>
        </p:txBody>
      </p:sp>
      <p:sp>
        <p:nvSpPr>
          <p:cNvPr id="915" name="Google Shape;915;p85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Wealth vs. Income; Different Income Measures; Defining Levels of Affluence, Defining Relative/Absolute Economic Shocks, Unit of Time, Unit of Household, Defining Resiliance/Fragility</a:t>
            </a:r>
            <a:endParaRPr/>
          </a:p>
        </p:txBody>
      </p:sp>
      <p:sp>
        <p:nvSpPr>
          <p:cNvPr id="916" name="Google Shape;916;p85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Requires Longitudinal Analysis</a:t>
            </a:r>
            <a:endParaRPr/>
          </a:p>
        </p:txBody>
      </p:sp>
      <p:sp>
        <p:nvSpPr>
          <p:cNvPr id="917" name="Google Shape;917;p85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OPM, SPM, PIT - snapshots</a:t>
            </a:r>
            <a:endParaRPr/>
          </a:p>
        </p:txBody>
      </p:sp>
      <p:sp>
        <p:nvSpPr>
          <p:cNvPr id="918" name="Google Shape;918;p85"/>
          <p:cNvSpPr txBox="1"/>
          <p:nvPr>
            <p:ph idx="6" type="subTitle"/>
          </p:nvPr>
        </p:nvSpPr>
        <p:spPr>
          <a:xfrm>
            <a:off x="3687450" y="2855400"/>
            <a:ext cx="14484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Intra- generational, not inter-generational</a:t>
            </a:r>
            <a:endParaRPr/>
          </a:p>
        </p:txBody>
      </p:sp>
      <p:sp>
        <p:nvSpPr>
          <p:cNvPr id="919" name="Google Shape;919;p85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Raj Chetty’s Opportunity Atlas, Panel Study of Income Dynamics</a:t>
            </a:r>
            <a:endParaRPr/>
          </a:p>
        </p:txBody>
      </p:sp>
      <p:sp>
        <p:nvSpPr>
          <p:cNvPr id="920" name="Google Shape;920;p8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6"/>
          <p:cNvSpPr txBox="1"/>
          <p:nvPr>
            <p:ph type="title"/>
          </p:nvPr>
        </p:nvSpPr>
        <p:spPr>
          <a:xfrm>
            <a:off x="436725" y="457200"/>
            <a:ext cx="7690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i="1" lang="en"/>
              <a:t>Can </a:t>
            </a:r>
            <a:r>
              <a:rPr lang="en"/>
              <a:t>We Analyze?</a:t>
            </a:r>
            <a:endParaRPr/>
          </a:p>
        </p:txBody>
      </p:sp>
      <p:sp>
        <p:nvSpPr>
          <p:cNvPr id="926" name="Google Shape;926;p8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27" name="Google Shape;927;p86"/>
          <p:cNvGrpSpPr/>
          <p:nvPr/>
        </p:nvGrpSpPr>
        <p:grpSpPr>
          <a:xfrm>
            <a:off x="2162100" y="2153600"/>
            <a:ext cx="4774838" cy="2530050"/>
            <a:chOff x="2162100" y="2153600"/>
            <a:chExt cx="4774838" cy="2530050"/>
          </a:xfrm>
        </p:grpSpPr>
        <p:sp>
          <p:nvSpPr>
            <p:cNvPr id="928" name="Google Shape;928;p86"/>
            <p:cNvSpPr/>
            <p:nvPr/>
          </p:nvSpPr>
          <p:spPr>
            <a:xfrm>
              <a:off x="2817900" y="2751919"/>
              <a:ext cx="3493305" cy="438877"/>
            </a:xfrm>
            <a:custGeom>
              <a:rect b="b" l="l" r="r" t="t"/>
              <a:pathLst>
                <a:path extrusionOk="0" fill="none" h="35834" w="285226">
                  <a:moveTo>
                    <a:pt x="1" y="35834"/>
                  </a:moveTo>
                  <a:lnTo>
                    <a:pt x="1" y="10239"/>
                  </a:lnTo>
                  <a:lnTo>
                    <a:pt x="1" y="10239"/>
                  </a:lnTo>
                  <a:lnTo>
                    <a:pt x="1" y="9189"/>
                  </a:lnTo>
                  <a:lnTo>
                    <a:pt x="132" y="8139"/>
                  </a:lnTo>
                  <a:lnTo>
                    <a:pt x="394" y="7220"/>
                  </a:lnTo>
                  <a:lnTo>
                    <a:pt x="788" y="6301"/>
                  </a:lnTo>
                  <a:lnTo>
                    <a:pt x="1182" y="5382"/>
                  </a:lnTo>
                  <a:lnTo>
                    <a:pt x="1707" y="4463"/>
                  </a:lnTo>
                  <a:lnTo>
                    <a:pt x="2363" y="3676"/>
                  </a:lnTo>
                  <a:lnTo>
                    <a:pt x="3019" y="3019"/>
                  </a:lnTo>
                  <a:lnTo>
                    <a:pt x="3676" y="2363"/>
                  </a:lnTo>
                  <a:lnTo>
                    <a:pt x="4463" y="1707"/>
                  </a:lnTo>
                  <a:lnTo>
                    <a:pt x="5382" y="1182"/>
                  </a:lnTo>
                  <a:lnTo>
                    <a:pt x="6170" y="788"/>
                  </a:lnTo>
                  <a:lnTo>
                    <a:pt x="7220" y="394"/>
                  </a:lnTo>
                  <a:lnTo>
                    <a:pt x="8139" y="263"/>
                  </a:lnTo>
                  <a:lnTo>
                    <a:pt x="9189" y="1"/>
                  </a:lnTo>
                  <a:lnTo>
                    <a:pt x="10239" y="1"/>
                  </a:lnTo>
                  <a:lnTo>
                    <a:pt x="274987" y="1"/>
                  </a:lnTo>
                  <a:lnTo>
                    <a:pt x="274987" y="1"/>
                  </a:lnTo>
                  <a:lnTo>
                    <a:pt x="276037" y="1"/>
                  </a:lnTo>
                  <a:lnTo>
                    <a:pt x="276956" y="263"/>
                  </a:lnTo>
                  <a:lnTo>
                    <a:pt x="278006" y="394"/>
                  </a:lnTo>
                  <a:lnTo>
                    <a:pt x="278925" y="788"/>
                  </a:lnTo>
                  <a:lnTo>
                    <a:pt x="279844" y="1182"/>
                  </a:lnTo>
                  <a:lnTo>
                    <a:pt x="280631" y="1707"/>
                  </a:lnTo>
                  <a:lnTo>
                    <a:pt x="281419" y="2363"/>
                  </a:lnTo>
                  <a:lnTo>
                    <a:pt x="282207" y="3019"/>
                  </a:lnTo>
                  <a:lnTo>
                    <a:pt x="282863" y="3676"/>
                  </a:lnTo>
                  <a:lnTo>
                    <a:pt x="283388" y="4463"/>
                  </a:lnTo>
                  <a:lnTo>
                    <a:pt x="283913" y="5382"/>
                  </a:lnTo>
                  <a:lnTo>
                    <a:pt x="284438" y="6301"/>
                  </a:lnTo>
                  <a:lnTo>
                    <a:pt x="284700" y="7220"/>
                  </a:lnTo>
                  <a:lnTo>
                    <a:pt x="284963" y="8139"/>
                  </a:lnTo>
                  <a:lnTo>
                    <a:pt x="285094" y="9189"/>
                  </a:lnTo>
                  <a:lnTo>
                    <a:pt x="285225" y="10239"/>
                  </a:lnTo>
                  <a:lnTo>
                    <a:pt x="285225" y="35834"/>
                  </a:lnTo>
                </a:path>
              </a:pathLst>
            </a:custGeom>
            <a:noFill/>
            <a:ln cap="rnd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9" name="Google Shape;929;p86"/>
            <p:cNvSpPr txBox="1"/>
            <p:nvPr/>
          </p:nvSpPr>
          <p:spPr>
            <a:xfrm>
              <a:off x="2817900" y="2153600"/>
              <a:ext cx="3456000" cy="4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30" name="Google Shape;930;p86"/>
            <p:cNvSpPr txBox="1"/>
            <p:nvPr/>
          </p:nvSpPr>
          <p:spPr>
            <a:xfrm>
              <a:off x="2162100" y="3493250"/>
              <a:ext cx="1318800" cy="11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Define Key Framework Concepts</a:t>
              </a:r>
              <a:endPara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31" name="Google Shape;931;p86"/>
            <p:cNvSpPr txBox="1"/>
            <p:nvPr/>
          </p:nvSpPr>
          <p:spPr>
            <a:xfrm>
              <a:off x="3924350" y="3493250"/>
              <a:ext cx="1275900" cy="11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Narrow Scope</a:t>
              </a:r>
              <a:endPara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32" name="Google Shape;932;p86"/>
            <p:cNvSpPr txBox="1"/>
            <p:nvPr/>
          </p:nvSpPr>
          <p:spPr>
            <a:xfrm>
              <a:off x="5613625" y="3493250"/>
              <a:ext cx="1318800" cy="119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Utilize available datasets</a:t>
              </a:r>
              <a:endPara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33" name="Google Shape;933;p86"/>
            <p:cNvSpPr/>
            <p:nvPr/>
          </p:nvSpPr>
          <p:spPr>
            <a:xfrm>
              <a:off x="2162113" y="2907000"/>
              <a:ext cx="1318800" cy="471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34" name="Google Shape;934;p86"/>
            <p:cNvSpPr/>
            <p:nvPr/>
          </p:nvSpPr>
          <p:spPr>
            <a:xfrm>
              <a:off x="3890125" y="2907000"/>
              <a:ext cx="1318800" cy="471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35" name="Google Shape;935;p86"/>
            <p:cNvSpPr/>
            <p:nvPr/>
          </p:nvSpPr>
          <p:spPr>
            <a:xfrm>
              <a:off x="5618138" y="2907000"/>
              <a:ext cx="1318800" cy="4710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36" name="Google Shape;936;p86"/>
            <p:cNvSpPr txBox="1"/>
            <p:nvPr/>
          </p:nvSpPr>
          <p:spPr>
            <a:xfrm>
              <a:off x="2162113" y="3001575"/>
              <a:ext cx="1318800" cy="2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accent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STEP 1</a:t>
              </a:r>
              <a:endParaRPr sz="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  <p:sp>
          <p:nvSpPr>
            <p:cNvPr id="937" name="Google Shape;937;p86"/>
            <p:cNvSpPr txBox="1"/>
            <p:nvPr/>
          </p:nvSpPr>
          <p:spPr>
            <a:xfrm>
              <a:off x="3890125" y="3001575"/>
              <a:ext cx="1318800" cy="2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accent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STEP 2</a:t>
              </a:r>
              <a:endParaRPr sz="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  <p:sp>
          <p:nvSpPr>
            <p:cNvPr id="938" name="Google Shape;938;p86"/>
            <p:cNvSpPr txBox="1"/>
            <p:nvPr/>
          </p:nvSpPr>
          <p:spPr>
            <a:xfrm>
              <a:off x="5618138" y="3001575"/>
              <a:ext cx="1318800" cy="28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accent1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rPr>
                <a:t>STEP 3</a:t>
              </a:r>
              <a:endParaRPr sz="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endParaRPr>
            </a:p>
          </p:txBody>
        </p:sp>
        <p:cxnSp>
          <p:nvCxnSpPr>
            <p:cNvPr id="939" name="Google Shape;939;p86"/>
            <p:cNvCxnSpPr/>
            <p:nvPr/>
          </p:nvCxnSpPr>
          <p:spPr>
            <a:xfrm>
              <a:off x="3480925" y="3142500"/>
              <a:ext cx="409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40" name="Google Shape;940;p86"/>
            <p:cNvCxnSpPr/>
            <p:nvPr/>
          </p:nvCxnSpPr>
          <p:spPr>
            <a:xfrm>
              <a:off x="5211475" y="3142500"/>
              <a:ext cx="4092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87"/>
          <p:cNvSpPr txBox="1"/>
          <p:nvPr>
            <p:ph type="title"/>
          </p:nvPr>
        </p:nvSpPr>
        <p:spPr>
          <a:xfrm>
            <a:off x="6447214" y="1289684"/>
            <a:ext cx="22320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Dataset 1: Urban Institute’s Upward Mobility Initiative</a:t>
            </a:r>
            <a:endParaRPr/>
          </a:p>
        </p:txBody>
      </p:sp>
      <p:sp>
        <p:nvSpPr>
          <p:cNvPr id="946" name="Google Shape;946;p8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7" name="Google Shape;947;p87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cxnSp>
        <p:nvCxnSpPr>
          <p:cNvPr id="948" name="Google Shape;948;p87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49" name="Google Shape;949;p87" title="His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825" y="385250"/>
            <a:ext cx="4343400" cy="436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88"/>
          <p:cNvSpPr txBox="1"/>
          <p:nvPr>
            <p:ph type="title"/>
          </p:nvPr>
        </p:nvSpPr>
        <p:spPr>
          <a:xfrm>
            <a:off x="6447214" y="1289684"/>
            <a:ext cx="2232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Dataset 2: Opportunity Atlas</a:t>
            </a:r>
            <a:endParaRPr/>
          </a:p>
        </p:txBody>
      </p:sp>
      <p:sp>
        <p:nvSpPr>
          <p:cNvPr id="955" name="Google Shape;955;p8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6" name="Google Shape;956;p88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cxnSp>
        <p:nvCxnSpPr>
          <p:cNvPr id="957" name="Google Shape;957;p88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58" name="Google Shape;958;p88" title="75plot_regres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50" y="579575"/>
            <a:ext cx="5417200" cy="38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9"/>
          <p:cNvSpPr txBox="1"/>
          <p:nvPr>
            <p:ph type="title"/>
          </p:nvPr>
        </p:nvSpPr>
        <p:spPr>
          <a:xfrm>
            <a:off x="6447214" y="1289684"/>
            <a:ext cx="2232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Dataset 2: Opportunity Atlas</a:t>
            </a:r>
            <a:endParaRPr/>
          </a:p>
        </p:txBody>
      </p:sp>
      <p:sp>
        <p:nvSpPr>
          <p:cNvPr id="964" name="Google Shape;964;p8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5" name="Google Shape;965;p8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cxnSp>
        <p:nvCxnSpPr>
          <p:cNvPr id="966" name="Google Shape;966;p89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67" name="Google Shape;967;p89" title="Regres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988" y="536400"/>
            <a:ext cx="5480625" cy="38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90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Further break down Opportunity Atlas data by demographics, and Upward Mobility data by key factors </a:t>
            </a:r>
            <a:endParaRPr/>
          </a:p>
        </p:txBody>
      </p:sp>
      <p:sp>
        <p:nvSpPr>
          <p:cNvPr id="973" name="Google Shape;973;p90"/>
          <p:cNvSpPr txBox="1"/>
          <p:nvPr>
            <p:ph type="title"/>
          </p:nvPr>
        </p:nvSpPr>
        <p:spPr>
          <a:xfrm>
            <a:off x="436725" y="1231825"/>
            <a:ext cx="55527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b="1" lang="en" sz="2400"/>
              <a:t>Next Steps</a:t>
            </a:r>
            <a:endParaRPr b="1" sz="2400"/>
          </a:p>
        </p:txBody>
      </p:sp>
      <p:sp>
        <p:nvSpPr>
          <p:cNvPr id="974" name="Google Shape;974;p90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Streamlit Dashboard to visualize income over demographic trends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5" name="Google Shape;975;p90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Access MIT Living Wage data, analyze PSID Response Data, ALICE data</a:t>
            </a:r>
            <a:endParaRPr/>
          </a:p>
        </p:txBody>
      </p:sp>
      <p:sp>
        <p:nvSpPr>
          <p:cNvPr id="976" name="Google Shape;976;p9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77" name="Google Shape;977;p90"/>
          <p:cNvCxnSpPr/>
          <p:nvPr/>
        </p:nvCxnSpPr>
        <p:spPr>
          <a:xfrm>
            <a:off x="-9" y="2154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90"/>
          <p:cNvCxnSpPr/>
          <p:nvPr/>
        </p:nvCxnSpPr>
        <p:spPr>
          <a:xfrm>
            <a:off x="3146975" y="2154875"/>
            <a:ext cx="0" cy="298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90"/>
          <p:cNvCxnSpPr/>
          <p:nvPr/>
        </p:nvCxnSpPr>
        <p:spPr>
          <a:xfrm>
            <a:off x="6083700" y="2154875"/>
            <a:ext cx="0" cy="29886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sson 2">
  <a:themeElements>
    <a:clrScheme name="Simple Light">
      <a:dk1>
        <a:srgbClr val="000000"/>
      </a:dk1>
      <a:lt1>
        <a:srgbClr val="F4F3F0"/>
      </a:lt1>
      <a:dk2>
        <a:srgbClr val="FFC700"/>
      </a:dk2>
      <a:lt2>
        <a:srgbClr val="0EAA57"/>
      </a:lt2>
      <a:accent1>
        <a:srgbClr val="349EEA"/>
      </a:accent1>
      <a:accent2>
        <a:srgbClr val="C6B9FF"/>
      </a:accent2>
      <a:accent3>
        <a:srgbClr val="F66F6F"/>
      </a:accent3>
      <a:accent4>
        <a:srgbClr val="8E7CC3"/>
      </a:accent4>
      <a:accent5>
        <a:srgbClr val="FFE599"/>
      </a:accent5>
      <a:accent6>
        <a:srgbClr val="A4C2F4"/>
      </a:accent6>
      <a:hlink>
        <a:srgbClr val="FFC7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